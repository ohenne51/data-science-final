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embeddedFontLst>
    <p:embeddedFont>
      <p:font typeface="Average"/>
      <p:regular r:id="rId16"/>
    </p:embeddedFont>
    <p:embeddedFont>
      <p:font typeface="Oswald"/>
      <p:regular r:id="rId17"/>
      <p:bold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Oswald-regular.fntdata"/><Relationship Id="rId16" Type="http://schemas.openxmlformats.org/officeDocument/2006/relationships/font" Target="fonts/Average-regular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schemas.openxmlformats.org/officeDocument/2006/relationships/font" Target="fonts/Oswald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c6f980f91_0_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" name="Google Shape;57;gc6f980f9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a542f464ed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a542f464ed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c6f980f91_0_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c6f980f91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c6f980f91_0_1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c6f980f91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gc6f980f91_0_81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" name="Google Shape;83;gc6f980f91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gc6f980f91_0_10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" name="Google Shape;93;gc6f980f91_0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g3aa2dde10df_0_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g3aa2dde10df_0_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aa2dde10df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aa2dde10df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aa2dde10df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aa2dde10df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g3ae532da8c9_2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9" name="Google Shape;119;g3ae532da8c9_2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oogle Shape;10;p2"/>
          <p:cNvGrpSpPr/>
          <p:nvPr/>
        </p:nvGrpSpPr>
        <p:grpSpPr>
          <a:xfrm>
            <a:off x="4350279" y="2855377"/>
            <a:ext cx="443589" cy="105632"/>
            <a:chOff x="4137525" y="2915950"/>
            <a:chExt cx="869100" cy="207000"/>
          </a:xfrm>
        </p:grpSpPr>
        <p:sp>
          <p:nvSpPr>
            <p:cNvPr id="11" name="Google Shape;11;p2"/>
            <p:cNvSpPr/>
            <p:nvPr/>
          </p:nvSpPr>
          <p:spPr>
            <a:xfrm>
              <a:off x="446857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" name="Google Shape;12;p2"/>
            <p:cNvSpPr/>
            <p:nvPr/>
          </p:nvSpPr>
          <p:spPr>
            <a:xfrm>
              <a:off x="479962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>
              <a:off x="4137525" y="2915950"/>
              <a:ext cx="207000" cy="207000"/>
            </a:xfrm>
            <a:prstGeom prst="ellipse">
              <a:avLst/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4" name="Google Shape;14;p2"/>
          <p:cNvSpPr txBox="1"/>
          <p:nvPr>
            <p:ph type="ctrTitle"/>
          </p:nvPr>
        </p:nvSpPr>
        <p:spPr>
          <a:xfrm>
            <a:off x="671258" y="990800"/>
            <a:ext cx="7801500" cy="1730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5" name="Google Shape;15;p2"/>
          <p:cNvSpPr txBox="1"/>
          <p:nvPr>
            <p:ph idx="1" type="subTitle"/>
          </p:nvPr>
        </p:nvSpPr>
        <p:spPr>
          <a:xfrm>
            <a:off x="671250" y="3174876"/>
            <a:ext cx="7801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671250" y="2141250"/>
            <a:ext cx="7852200" cy="861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3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6" name="Google Shape;26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7" name="Google Shape;27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4" name="Google Shape;34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5" name="Google Shape;35;p7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8"/>
          <p:cNvSpPr txBox="1"/>
          <p:nvPr>
            <p:ph type="title"/>
          </p:nvPr>
        </p:nvSpPr>
        <p:spPr>
          <a:xfrm>
            <a:off x="490250" y="526350"/>
            <a:ext cx="6227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4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8" name="Google Shape;38;p8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9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1" name="Google Shape;41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2" name="Google Shape;42;p9"/>
          <p:cNvSpPr txBox="1"/>
          <p:nvPr>
            <p:ph type="title"/>
          </p:nvPr>
        </p:nvSpPr>
        <p:spPr>
          <a:xfrm>
            <a:off x="265500" y="1081400"/>
            <a:ext cx="4045200" cy="1710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3" name="Google Shape;43;p9"/>
          <p:cNvSpPr txBox="1"/>
          <p:nvPr>
            <p:ph idx="1" type="subTitle"/>
          </p:nvPr>
        </p:nvSpPr>
        <p:spPr>
          <a:xfrm>
            <a:off x="265500" y="28452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44" name="Google Shape;44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Oswald"/>
              <a:buNone/>
              <a:defRPr sz="21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</a:lstStyle>
          <a:p/>
        </p:txBody>
      </p:sp>
      <p:sp>
        <p:nvSpPr>
          <p:cNvPr id="48" name="Google Shape;48;p10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 txBox="1"/>
          <p:nvPr>
            <p:ph hasCustomPrompt="1" type="title"/>
          </p:nvPr>
        </p:nvSpPr>
        <p:spPr>
          <a:xfrm>
            <a:off x="311700" y="1255275"/>
            <a:ext cx="8520600" cy="1890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1" name="Google Shape;51;p11"/>
          <p:cNvSpPr txBox="1"/>
          <p:nvPr>
            <p:ph idx="1" type="body"/>
          </p:nvPr>
        </p:nvSpPr>
        <p:spPr>
          <a:xfrm>
            <a:off x="311700" y="32284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1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2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late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Oswald"/>
              <a:buNone/>
              <a:defRPr sz="3000">
                <a:solidFill>
                  <a:schemeClr val="dk1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800"/>
              <a:buFont typeface="Average"/>
              <a:buChar char="●"/>
              <a:defRPr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●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Average"/>
              <a:buChar char="○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accent3"/>
              </a:buClr>
              <a:buSzPts val="1400"/>
              <a:buFont typeface="Average"/>
              <a:buChar char="■"/>
              <a:defRPr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90250" y="4681009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1pPr>
            <a:lvl2pPr lvl="1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2pPr>
            <a:lvl3pPr lvl="2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3pPr>
            <a:lvl4pPr lvl="3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4pPr>
            <a:lvl5pPr lvl="4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5pPr>
            <a:lvl6pPr lvl="5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6pPr>
            <a:lvl7pPr lvl="6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7pPr>
            <a:lvl8pPr lvl="7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8pPr>
            <a:lvl9pPr lvl="8" algn="r">
              <a:buNone/>
              <a:defRPr sz="10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s://www.google.com/search?q=https://doi.org/10.3390/jrfm15100450&amp;authuser=1" TargetMode="External"/><Relationship Id="rId4" Type="http://schemas.openxmlformats.org/officeDocument/2006/relationships/hyperlink" Target="https://www.google.com/search?q=https://doi.org/10.1093/oxfordjournals.jpart.a025345&amp;authuser=1" TargetMode="External"/><Relationship Id="rId5" Type="http://schemas.openxmlformats.org/officeDocument/2006/relationships/hyperlink" Target="https://www.google.com/search?q=https://doi.org/10.1111/j.1540-6210.2008.01955.x&amp;authuser=1" TargetMode="External"/><Relationship Id="rId6" Type="http://schemas.openxmlformats.org/officeDocument/2006/relationships/hyperlink" Target="https://insights.stackoverflow.com/survey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3"/>
          <p:cNvSpPr txBox="1"/>
          <p:nvPr>
            <p:ph type="ctrTitle"/>
          </p:nvPr>
        </p:nvSpPr>
        <p:spPr>
          <a:xfrm>
            <a:off x="671258" y="990800"/>
            <a:ext cx="7801500" cy="1730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Capstone Final Project</a:t>
            </a:r>
            <a:endParaRPr/>
          </a:p>
        </p:txBody>
      </p:sp>
      <p:sp>
        <p:nvSpPr>
          <p:cNvPr id="60" name="Google Shape;60;p13"/>
          <p:cNvSpPr txBox="1"/>
          <p:nvPr>
            <p:ph idx="1" type="subTitle"/>
          </p:nvPr>
        </p:nvSpPr>
        <p:spPr>
          <a:xfrm>
            <a:off x="671250" y="3174876"/>
            <a:ext cx="7801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December 8, 2025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By Owen Henne, Peter Janoski, &amp; Sean Williams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4"/>
          <p:cNvSpPr txBox="1"/>
          <p:nvPr>
            <p:ph type="ctrTitle"/>
          </p:nvPr>
        </p:nvSpPr>
        <p:spPr>
          <a:xfrm>
            <a:off x="671258" y="250125"/>
            <a:ext cx="7801500" cy="1730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2400"/>
              <a:t>Research Question:</a:t>
            </a:r>
            <a:r>
              <a:rPr lang="en" sz="2400"/>
              <a:t> Which industries pay tech workers the most, an</a:t>
            </a:r>
            <a:r>
              <a:rPr lang="en" sz="2400"/>
              <a:t>d </a:t>
            </a:r>
            <a:r>
              <a:rPr lang="en" sz="2400"/>
              <a:t>what explains these differences? </a:t>
            </a:r>
            <a:r>
              <a:rPr lang="en"/>
              <a:t> </a:t>
            </a:r>
            <a:endParaRPr sz="1400"/>
          </a:p>
        </p:txBody>
      </p:sp>
      <p:sp>
        <p:nvSpPr>
          <p:cNvPr id="66" name="Google Shape;66;p14"/>
          <p:cNvSpPr txBox="1"/>
          <p:nvPr>
            <p:ph idx="1" type="subTitle"/>
          </p:nvPr>
        </p:nvSpPr>
        <p:spPr>
          <a:xfrm>
            <a:off x="671250" y="2029601"/>
            <a:ext cx="7801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By </a:t>
            </a:r>
            <a:r>
              <a:rPr lang="en"/>
              <a:t>Analyzing Tech Compensation Trends from the 2025 Stack Overflow Survey </a:t>
            </a:r>
            <a:endParaRPr/>
          </a:p>
        </p:txBody>
      </p:sp>
      <p:pic>
        <p:nvPicPr>
          <p:cNvPr id="67" name="Google Shape;67;p14" title="istockphoto-1421479531-612x612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73425" y="2822201"/>
            <a:ext cx="3197143" cy="2016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Business Context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Understanding industry-level compensation differences matters for:</a:t>
            </a:r>
            <a:endParaRPr/>
          </a:p>
          <a:p>
            <a:pPr indent="-342900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Companies: Helps maintain competitive pay to attract tech talent.</a:t>
            </a:r>
            <a:endParaRPr/>
          </a:p>
          <a:p>
            <a:pPr indent="-342900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Workers: Guides career planning and industry selection.</a:t>
            </a:r>
            <a:endParaRPr/>
          </a:p>
          <a:p>
            <a:pPr indent="-342900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Markets: Reveals how demand, regulation, and specialization shape salaries.</a:t>
            </a:r>
            <a:endParaRPr/>
          </a:p>
          <a:p>
            <a: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Overview</a:t>
            </a:r>
            <a:endParaRPr/>
          </a:p>
        </p:txBody>
      </p:sp>
      <p:sp>
        <p:nvSpPr>
          <p:cNvPr id="79" name="Google Shape;79;p16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• Data Source: Stack Overflow Developer Survey 2025</a:t>
            </a:r>
            <a:endParaRPr sz="1800"/>
          </a:p>
          <a:p>
            <a:pPr indent="0" lvl="0" marL="0" rtl="0" algn="l">
              <a:lnSpc>
                <a:spcPct val="2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800"/>
              <a:t>• Sample Size: N = 635 (US developers, 5–10 years experience)</a:t>
            </a:r>
            <a:endParaRPr sz="1800"/>
          </a:p>
          <a:p>
            <a:pPr indent="0" lvl="0" marL="0" rtl="0" algn="l">
              <a:lnSpc>
                <a:spcPct val="15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800"/>
          </a:p>
        </p:txBody>
      </p:sp>
      <p:sp>
        <p:nvSpPr>
          <p:cNvPr id="80" name="Google Shape;80;p16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• Key Variables: Industry, ConvertedCompYearly (salary), Experience</a:t>
            </a:r>
            <a:endParaRPr sz="1800"/>
          </a:p>
          <a:p>
            <a:pPr indent="0" lvl="0" marL="0" rtl="0" algn="l">
              <a:lnSpc>
                <a:spcPct val="20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800"/>
              <a:t>• Exclusions: Outliers, incomplete salaries, non-US, non-employed respondents</a:t>
            </a:r>
            <a:endParaRPr sz="18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7"/>
          <p:cNvSpPr txBox="1"/>
          <p:nvPr>
            <p:ph idx="4294967295" type="body"/>
          </p:nvPr>
        </p:nvSpPr>
        <p:spPr>
          <a:xfrm>
            <a:off x="539675" y="1254200"/>
            <a:ext cx="2422500" cy="799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</a:rPr>
              <a:t>Deliverable 1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86" name="Google Shape;86;p17"/>
          <p:cNvSpPr txBox="1"/>
          <p:nvPr>
            <p:ph idx="4294967295" type="body"/>
          </p:nvPr>
        </p:nvSpPr>
        <p:spPr>
          <a:xfrm>
            <a:off x="3480453" y="2127465"/>
            <a:ext cx="5111700" cy="799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">
                <a:solidFill>
                  <a:schemeClr val="lt1"/>
                </a:solidFill>
              </a:rPr>
              <a:t>Lorem ipsum dolor sit amet </a:t>
            </a:r>
            <a:endParaRPr>
              <a:solidFill>
                <a:schemeClr val="lt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">
                <a:solidFill>
                  <a:schemeClr val="lt1"/>
                </a:solidFill>
              </a:rPr>
              <a:t>Sed do eiusmod tempor incididunt ut labore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87" name="Google Shape;87;p17"/>
          <p:cNvSpPr txBox="1"/>
          <p:nvPr>
            <p:ph idx="4294967295" type="body"/>
          </p:nvPr>
        </p:nvSpPr>
        <p:spPr>
          <a:xfrm>
            <a:off x="3480453" y="3004317"/>
            <a:ext cx="5111700" cy="799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">
                <a:solidFill>
                  <a:schemeClr val="lt1"/>
                </a:solidFill>
              </a:rPr>
              <a:t>Lorem ipsum dolor sit amet</a:t>
            </a:r>
            <a:endParaRPr>
              <a:solidFill>
                <a:schemeClr val="lt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">
                <a:solidFill>
                  <a:schemeClr val="lt1"/>
                </a:solidFill>
              </a:rPr>
              <a:t>Sed do eiusmod tempor incididunt ut labore</a:t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88" name="Google Shape;88;p17"/>
          <p:cNvSpPr txBox="1"/>
          <p:nvPr>
            <p:ph idx="4294967295" type="body"/>
          </p:nvPr>
        </p:nvSpPr>
        <p:spPr>
          <a:xfrm>
            <a:off x="3480453" y="3876311"/>
            <a:ext cx="5111700" cy="799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">
                <a:solidFill>
                  <a:schemeClr val="lt1"/>
                </a:solidFill>
              </a:rPr>
              <a:t>Lorem ipsum dolor sit amet</a:t>
            </a:r>
            <a:endParaRPr>
              <a:solidFill>
                <a:schemeClr val="lt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</a:pPr>
            <a:r>
              <a:rPr lang="en">
                <a:solidFill>
                  <a:schemeClr val="lt1"/>
                </a:solidFill>
              </a:rPr>
              <a:t>Sed do eiusmod tempor incididunt ut labore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89" name="Google Shape;89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59313" y="745575"/>
            <a:ext cx="6625375" cy="4140850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7"/>
          <p:cNvSpPr txBox="1"/>
          <p:nvPr/>
        </p:nvSpPr>
        <p:spPr>
          <a:xfrm>
            <a:off x="864513" y="194000"/>
            <a:ext cx="7658400" cy="34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Visualization 1: horizontal bar chart displaying median salary by industry</a:t>
            </a:r>
            <a:endParaRPr sz="18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20325" y="817650"/>
            <a:ext cx="5903325" cy="4200075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8"/>
          <p:cNvSpPr txBox="1"/>
          <p:nvPr/>
        </p:nvSpPr>
        <p:spPr>
          <a:xfrm>
            <a:off x="1620313" y="194000"/>
            <a:ext cx="6327900" cy="38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accent3"/>
                </a:solidFill>
                <a:latin typeface="Average"/>
                <a:ea typeface="Average"/>
                <a:cs typeface="Average"/>
                <a:sym typeface="Average"/>
              </a:rPr>
              <a:t>Visualization 2: box plots that show salary distributions</a:t>
            </a:r>
            <a:endParaRPr sz="1800">
              <a:solidFill>
                <a:schemeClr val="accent3"/>
              </a:solidFill>
              <a:latin typeface="Average"/>
              <a:ea typeface="Average"/>
              <a:cs typeface="Average"/>
              <a:sym typeface="Average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Statistical Results</a:t>
            </a:r>
            <a:endParaRPr/>
          </a:p>
        </p:txBody>
      </p:sp>
      <p:sp>
        <p:nvSpPr>
          <p:cNvPr id="102" name="Google Shape;102;p19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5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Interpretation: There are statistically significant differences in mean salaries across industries.</a:t>
            </a:r>
            <a:endParaRPr sz="1700"/>
          </a:p>
          <a:p>
            <a:pPr indent="-3365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Industry strongly predicts compensation levels.</a:t>
            </a:r>
            <a:endParaRPr sz="1700"/>
          </a:p>
        </p:txBody>
      </p:sp>
      <p:sp>
        <p:nvSpPr>
          <p:cNvPr id="103" name="Google Shape;103;p19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92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" sz="1900"/>
              <a:t>One-Way ANOVA Results:</a:t>
            </a:r>
            <a:endParaRPr sz="1900"/>
          </a:p>
          <a:p>
            <a:pPr indent="-3492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" sz="1900"/>
              <a:t>F = 6.84</a:t>
            </a:r>
            <a:endParaRPr sz="1900"/>
          </a:p>
          <a:p>
            <a:pPr indent="-34925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SzPts val="1900"/>
              <a:buChar char="●"/>
            </a:pPr>
            <a:r>
              <a:rPr lang="en" sz="1900"/>
              <a:t>p &lt; .001</a:t>
            </a:r>
            <a:endParaRPr sz="19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Business Recommendations</a:t>
            </a:r>
            <a:endParaRPr/>
          </a:p>
        </p:txBody>
      </p:sp>
      <p:sp>
        <p:nvSpPr>
          <p:cNvPr id="109" name="Google Shape;109;p20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b="1" lang="en" sz="1700"/>
              <a:t>For Companies:</a:t>
            </a:r>
            <a:endParaRPr b="1" sz="17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700"/>
              <a:t>- Benchmark pay not just within your sector but across all tech-heavy industries.</a:t>
            </a:r>
            <a:endParaRPr sz="17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700"/>
              <a:t>- Lower-paying sectors (Government, Non-profit) should emphasize non-monetary benefits.</a:t>
            </a:r>
            <a:endParaRPr sz="17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700"/>
              <a:t>- High-paying sectors should retain talent through career growth &amp; skill development.</a:t>
            </a:r>
            <a:endParaRPr sz="17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20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550" lvl="0" marL="457200" rtl="0" algn="l"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b="1" lang="en" sz="1700"/>
              <a:t>For Workers:</a:t>
            </a:r>
            <a:endParaRPr b="1" sz="17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700"/>
              <a:t>- Industry choice can shift earnings by 30% or more.</a:t>
            </a:r>
            <a:endParaRPr sz="17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700"/>
              <a:t>- Consider long-term career value, not just job role.</a:t>
            </a:r>
            <a:endParaRPr sz="1700"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</a:t>
            </a:r>
            <a:endParaRPr/>
          </a:p>
        </p:txBody>
      </p:sp>
      <p:sp>
        <p:nvSpPr>
          <p:cNvPr id="116" name="Google Shape;116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Industry strongly predicts tech salaries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Finance &amp; Healthcare lead in compensation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Government &amp; Non-profit trail significantly</a:t>
            </a:r>
            <a:endParaRPr/>
          </a:p>
          <a:p>
            <a:pPr indent="-3429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Results statistically significant and meaningful</a:t>
            </a:r>
            <a:endParaRPr/>
          </a:p>
          <a:p>
            <a:pPr indent="457200" lvl="0" marL="0" rtl="0" algn="l">
              <a:lnSpc>
                <a:spcPct val="150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Questions?</a:t>
            </a:r>
            <a:endParaRPr/>
          </a:p>
          <a:p>
            <a:pPr indent="0" lvl="0" marL="457200" rtl="0" algn="l">
              <a:lnSpc>
                <a:spcPct val="150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rPr lang="en"/>
              <a:t>Thank you!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Works Cited</a:t>
            </a:r>
            <a:endParaRPr/>
          </a:p>
        </p:txBody>
      </p:sp>
      <p:sp>
        <p:nvSpPr>
          <p:cNvPr id="122" name="Google Shape;122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4572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Agarwal, V., Garlapati, R., &amp; Pal, S. (2022). The influence of compliance regulation on IT spending and information security salaries in the financial sector.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Journal of Risk and Financial Management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15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(10), 450. </a:t>
            </a:r>
            <a:r>
              <a:rPr lang="en" sz="120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https://doi.org/10.3390/jrfm15100450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572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Crewson, P. E. (1997). A comparative analysis of public and private sector compensation: The role of non-monetary rewards.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Journal of Public Administration Research and Theory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7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(1), 101–121. </a:t>
            </a:r>
            <a:r>
              <a:rPr lang="en" sz="120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https://doi.org/10.1093/oxfordjournals.jpart.a025345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572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Henneke, A. (2024, December). Beyond the base: The growing role of restricted stock units (RSUs) in big tech total compensation packages.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Tech Compensation Review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15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(4), 112–125.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572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Light, P. C. (2009). The nonprofit sector: The role of mission in compensation and recruitment.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Public Administration Review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,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69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(1), 163–174. </a:t>
            </a:r>
            <a:r>
              <a:rPr lang="en" sz="120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https://doi.org/10.1111/j.1540-6210.2008.01955.x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572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Stack Overflow. (2025).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Stack Overflow Annual Developer Survey 2025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 Retrieved from </a:t>
            </a:r>
            <a:r>
              <a:rPr lang="en" sz="1200" u="sng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https://insights.stackoverflow.com/survey</a:t>
            </a:r>
            <a:endParaRPr sz="1200" u="sng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57200" lvl="0" marL="45720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U.S. Bureau of Labor Statistics. (2024). High-tech industries: An analysis of employment, wages, and output. </a:t>
            </a:r>
            <a:r>
              <a:rPr i="1"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Monthly Labor Review</a:t>
            </a:r>
            <a:r>
              <a:rPr lang="en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late">
  <a:themeElements>
    <a:clrScheme name="Slate">
      <a:dk1>
        <a:srgbClr val="FFFFFF"/>
      </a:dk1>
      <a:lt1>
        <a:srgbClr val="37474F"/>
      </a:lt1>
      <a:dk2>
        <a:srgbClr val="9E9E9E"/>
      </a:dk2>
      <a:lt2>
        <a:srgbClr val="E0E0E0"/>
      </a:lt2>
      <a:accent1>
        <a:srgbClr val="616161"/>
      </a:accent1>
      <a:accent2>
        <a:srgbClr val="78909C"/>
      </a:accent2>
      <a:accent3>
        <a:srgbClr val="CACACA"/>
      </a:accent3>
      <a:accent4>
        <a:srgbClr val="64FFDA"/>
      </a:accent4>
      <a:accent5>
        <a:srgbClr val="FFD966"/>
      </a:accent5>
      <a:accent6>
        <a:srgbClr val="F5F5F5"/>
      </a:accent6>
      <a:hlink>
        <a:srgbClr val="FFD966"/>
      </a:hlink>
      <a:folHlink>
        <a:srgbClr val="FFD966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